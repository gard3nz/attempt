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68" r:id="rId6"/>
    <p:sldId id="265" r:id="rId7"/>
    <p:sldId id="267" r:id="rId8"/>
    <p:sldId id="266" r:id="rId9"/>
    <p:sldId id="262" r:id="rId10"/>
    <p:sldId id="26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5A21A8-A6DF-471A-BED3-3A77D97644A8}" v="52" dt="2026-05-15T17:34:08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12BD57-042F-76C0-0C84-4274AE47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55A4A39-FF08-3284-B96C-6FCA55587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1331A24-0861-BB5F-DD64-4E2A3893C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0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AB022B9-A6EB-00C9-1D82-1825ED9B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0A7D1EF-AAF3-15F8-D77B-835279AE3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FEAEF95-14A7-AB1F-DC64-BCFC31D1F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4878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90CA20C-8014-5C27-747D-27504F97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8A13682-BC5B-7A3B-FD7F-BE4F37910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FAA1E898-F61B-1C0C-2269-B69391259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83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81B4BB4-6151-AE3B-67C1-EAED1DD3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88E5EAC-8C54-6A32-AC21-0BA676B82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3CF553E-AD50-30D4-26D2-50BB1CE8A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69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263FC22-225B-5760-9AB2-720D77A1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14277D14-36FA-F15A-2F32-23C8F733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00C7526D-43A7-A3E9-59D8-800C68D0E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090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8976573-5912-18E0-D269-E730C0E0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52F735B-AAEE-AF71-50F2-5D8E5CC3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B6C9C84B-CA2F-9952-594D-E86D5B1E0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15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D17DD4E-FE9A-1A4F-5E95-BF51432F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B7F73657-61C5-BB48-6CF2-B848AF659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8083E457-E364-4E9A-BEF5-7341625A6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843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66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6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5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8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30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9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9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8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  <a:defRPr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225" y="626121"/>
            <a:ext cx="2646405" cy="724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0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>
                <a:cs typeface="Roboto"/>
              </a:rPr>
              <a:t>Экстремальное </a:t>
            </a:r>
            <a:br>
              <a:rPr lang="ru-RU" sz="4800" dirty="0">
                <a:cs typeface="Roboto"/>
              </a:rPr>
            </a:br>
            <a:r>
              <a:rPr lang="ru-RU" sz="4800">
                <a:cs typeface="Roboto"/>
              </a:rPr>
              <a:t>программирование </a:t>
            </a:r>
            <a:br>
              <a:rPr lang="ru-RU" sz="4800" dirty="0">
                <a:cs typeface="Roboto"/>
              </a:rPr>
            </a:br>
            <a:endParaRPr lang="ru-RU" sz="4800">
              <a:cs typeface="Robo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BA63BBE6-801B-53D3-5B6A-7EA8331EC2C5}"/>
              </a:ext>
            </a:extLst>
          </p:cNvPr>
          <p:cNvSpPr/>
          <p:nvPr/>
        </p:nvSpPr>
        <p:spPr>
          <a:xfrm>
            <a:off x="573200" y="3643737"/>
            <a:ext cx="7442841" cy="154364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71947" y="1490902"/>
            <a:ext cx="7442842" cy="1476052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15600" y="230282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  <a:sym typeface="Verdana"/>
              </a:rPr>
              <a:t>Экстремальное программирование</a:t>
            </a:r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06600" y="3858281"/>
            <a:ext cx="7052062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r>
              <a:rPr lang="ru-RU" sz="24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Разработка происходит по спирали, где каждый виток — новый этап улучшения системы</a:t>
            </a:r>
            <a:endParaRPr lang="ru-RU" sz="2400" dirty="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SzPts val="1800"/>
              <a:buChar char="•"/>
            </a:pPr>
            <a:endParaRPr lang="ru-RU" sz="2400" dirty="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4965F-D891-F3EE-1FB0-32EB01821AC7}"/>
              </a:ext>
            </a:extLst>
          </p:cNvPr>
          <p:cNvSpPr txBox="1"/>
          <p:nvPr/>
        </p:nvSpPr>
        <p:spPr>
          <a:xfrm>
            <a:off x="362505" y="1835733"/>
            <a:ext cx="10357281" cy="8688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2400">
                <a:latin typeface="Calibri"/>
              </a:rPr>
              <a:t>Создана Кентом Беком в конце 1990-х</a:t>
            </a:r>
            <a:endParaRPr lang="ru-RU" sz="1100" dirty="0"/>
          </a:p>
          <a:p>
            <a:pPr algn="ctr">
              <a:lnSpc>
                <a:spcPct val="150000"/>
              </a:lnSpc>
            </a:pPr>
            <a:endParaRPr lang="ru-RU" sz="1100" dirty="0"/>
          </a:p>
        </p:txBody>
      </p:sp>
      <p:pic>
        <p:nvPicPr>
          <p:cNvPr id="4" name="Рисунок 3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D3F747-4E5E-2897-E812-E50A74DCF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332" y="1716036"/>
            <a:ext cx="3581400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BC61C4E-DEAF-A1D6-7312-0862B3AE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2B39454E-F6A1-3556-C4C5-6545D0E13191}"/>
              </a:ext>
            </a:extLst>
          </p:cNvPr>
          <p:cNvSpPr/>
          <p:nvPr/>
        </p:nvSpPr>
        <p:spPr>
          <a:xfrm>
            <a:off x="553512" y="3488079"/>
            <a:ext cx="10521567" cy="1211810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4E4AE8CF-627A-13D9-7CFF-BFD5038D583B}"/>
              </a:ext>
            </a:extLst>
          </p:cNvPr>
          <p:cNvSpPr/>
          <p:nvPr/>
        </p:nvSpPr>
        <p:spPr>
          <a:xfrm>
            <a:off x="553512" y="2652338"/>
            <a:ext cx="10521567" cy="72634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28C32C80-64FD-99F8-CA2E-AF8CB58B10D2}"/>
              </a:ext>
            </a:extLst>
          </p:cNvPr>
          <p:cNvSpPr/>
          <p:nvPr/>
        </p:nvSpPr>
        <p:spPr>
          <a:xfrm>
            <a:off x="559657" y="1859612"/>
            <a:ext cx="10521567" cy="72634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1AFCCAE-B525-D77B-11FB-C1E5E3628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871C8AA-9BAC-ABA2-5350-9194667ABA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989AB1C7-F92A-31A6-7A1C-0E684851E4A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0955AEAE-5003-C8AA-6750-ED7787A3C5A8}"/>
              </a:ext>
            </a:extLst>
          </p:cNvPr>
          <p:cNvSpPr txBox="1"/>
          <p:nvPr/>
        </p:nvSpPr>
        <p:spPr>
          <a:xfrm>
            <a:off x="467386" y="289467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Почему традиционные методы (Waterfall) проигрывают?</a:t>
            </a:r>
            <a:endParaRPr lang="ru-RU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8A68A65-AE7B-A719-4BB4-7F1DD2D13132}"/>
              </a:ext>
            </a:extLst>
          </p:cNvPr>
          <p:cNvSpPr/>
          <p:nvPr/>
        </p:nvSpPr>
        <p:spPr>
          <a:xfrm>
            <a:off x="865784" y="3547563"/>
            <a:ext cx="9669900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endParaRPr lang="ru-RU" sz="320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E414F-6A54-8B6E-0B2F-C8E4BB0280F7}"/>
              </a:ext>
            </a:extLst>
          </p:cNvPr>
          <p:cNvSpPr txBox="1"/>
          <p:nvPr/>
        </p:nvSpPr>
        <p:spPr>
          <a:xfrm>
            <a:off x="392097" y="1786631"/>
            <a:ext cx="10357281" cy="3694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3200">
                <a:ea typeface="Calibri"/>
              </a:rPr>
              <a:t>Заказчик не знает всех требований в начале</a:t>
            </a:r>
            <a:endParaRPr lang="ru-RU"/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3200"/>
              <a:t>Боимся вносить изменения (дорого и долго)</a:t>
            </a:r>
            <a:endParaRPr lang="ru-RU"/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3200"/>
              <a:t>Код становится «грязным», тестирование откладывается на конец</a:t>
            </a:r>
            <a:endParaRPr lang="ru-RU"/>
          </a:p>
          <a:p>
            <a:pPr marL="285750">
              <a:lnSpc>
                <a:spcPct val="150000"/>
              </a:lnSpc>
            </a:pPr>
            <a:endParaRPr lang="ru-RU" sz="32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42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B7693C-F26F-98D7-EAE8-A85E9010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5C2ABE74-7D0A-5A29-5234-6BB485C37E5E}"/>
              </a:ext>
            </a:extLst>
          </p:cNvPr>
          <p:cNvSpPr/>
          <p:nvPr/>
        </p:nvSpPr>
        <p:spPr>
          <a:xfrm>
            <a:off x="565802" y="1934785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35859E0E-9D52-ED0E-D37F-3B761C657260}"/>
              </a:ext>
            </a:extLst>
          </p:cNvPr>
          <p:cNvSpPr/>
          <p:nvPr/>
        </p:nvSpPr>
        <p:spPr>
          <a:xfrm>
            <a:off x="565802" y="2926125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8A7D7921-5740-4CCE-00EF-3004EEED76F4}"/>
              </a:ext>
            </a:extLst>
          </p:cNvPr>
          <p:cNvSpPr/>
          <p:nvPr/>
        </p:nvSpPr>
        <p:spPr>
          <a:xfrm>
            <a:off x="565802" y="3902669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14F57063-B7C0-860A-2FFD-CBD78C597D66}"/>
              </a:ext>
            </a:extLst>
          </p:cNvPr>
          <p:cNvSpPr/>
          <p:nvPr/>
        </p:nvSpPr>
        <p:spPr>
          <a:xfrm>
            <a:off x="565802" y="4863402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A6ADDD9C-0420-483F-473A-E184AF153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6294097E-B792-EEF3-BDF3-DD76528D574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BFAFDAD-6086-8488-36A9-9908248E1681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B2637481-47EE-93F9-6556-7757DB826D2D}"/>
              </a:ext>
            </a:extLst>
          </p:cNvPr>
          <p:cNvSpPr txBox="1"/>
          <p:nvPr/>
        </p:nvSpPr>
        <p:spPr>
          <a:xfrm>
            <a:off x="452590" y="267273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</a:rPr>
              <a:t>Базовые ценности</a:t>
            </a:r>
            <a:endParaRPr lang="ru-RU" sz="3600" b="1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CB0A7-84FE-3046-5642-D1A99B9095B9}"/>
              </a:ext>
            </a:extLst>
          </p:cNvPr>
          <p:cNvSpPr txBox="1"/>
          <p:nvPr/>
        </p:nvSpPr>
        <p:spPr>
          <a:xfrm>
            <a:off x="392097" y="1786631"/>
            <a:ext cx="10357281" cy="45656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Коммуникация (Устная, плотное общение)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Простота (Делаем только то, что нужно сейчас)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Обратная связь (От тестов, заказчика, команды)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Смелость (Рефакторинг и отказ от мертвого кода)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5139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06CC855-49AE-7469-4AFF-13E8E492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DDB75936-16D8-5CFB-2F84-BFD84512AE75}"/>
              </a:ext>
            </a:extLst>
          </p:cNvPr>
          <p:cNvSpPr/>
          <p:nvPr/>
        </p:nvSpPr>
        <p:spPr>
          <a:xfrm>
            <a:off x="528931" y="1209656"/>
            <a:ext cx="11129937" cy="101176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B68A21C4-72C9-91C9-8864-DA95DA6B11C3}"/>
              </a:ext>
            </a:extLst>
          </p:cNvPr>
          <p:cNvSpPr/>
          <p:nvPr/>
        </p:nvSpPr>
        <p:spPr>
          <a:xfrm>
            <a:off x="553512" y="2428367"/>
            <a:ext cx="11129937" cy="9994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683FE950-B115-646C-7AD1-69BD5538189F}"/>
              </a:ext>
            </a:extLst>
          </p:cNvPr>
          <p:cNvSpPr/>
          <p:nvPr/>
        </p:nvSpPr>
        <p:spPr>
          <a:xfrm>
            <a:off x="553512" y="3663008"/>
            <a:ext cx="11129937" cy="98718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7981B06F-4C42-5B4D-EB12-397EA5EBCFCB}"/>
              </a:ext>
            </a:extLst>
          </p:cNvPr>
          <p:cNvSpPr/>
          <p:nvPr/>
        </p:nvSpPr>
        <p:spPr>
          <a:xfrm>
            <a:off x="528931" y="4967870"/>
            <a:ext cx="11129937" cy="80282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C258C96C-C200-FB68-4ABF-A8A6EA4A3A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236A63F-B187-687F-680B-4EA6319CE11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076F33A-F612-EF17-C4AA-C9439D709C9F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C78A0F8E-F245-2F9F-4675-EE6845348371}"/>
              </a:ext>
            </a:extLst>
          </p:cNvPr>
          <p:cNvSpPr txBox="1"/>
          <p:nvPr/>
        </p:nvSpPr>
        <p:spPr>
          <a:xfrm>
            <a:off x="452590" y="267273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ea typeface="Verdana"/>
              </a:rPr>
              <a:t>Технические практики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4542B-C008-9BB6-3B8B-C6D1D0579BC3}"/>
              </a:ext>
            </a:extLst>
          </p:cNvPr>
          <p:cNvSpPr txBox="1"/>
          <p:nvPr/>
        </p:nvSpPr>
        <p:spPr>
          <a:xfrm>
            <a:off x="330646" y="1301162"/>
            <a:ext cx="11137716" cy="4765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TDD (Test-Driven Development): Сначала тест, потом код</a:t>
            </a:r>
          </a:p>
          <a:p>
            <a:pPr marL="800100" indent="-514350">
              <a:lnSpc>
                <a:spcPct val="200000"/>
              </a:lnSpc>
              <a:buChar char="•"/>
            </a:pPr>
            <a:endParaRPr lang="ru-RU" sz="20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Рефакторинг: Непрерывное улучшение структуры кода</a:t>
            </a:r>
            <a:endParaRPr lang="ru-RU"/>
          </a:p>
          <a:p>
            <a:pPr marL="800100" indent="-514350">
              <a:lnSpc>
                <a:spcPct val="200000"/>
              </a:lnSpc>
              <a:buChar char="•"/>
            </a:pPr>
            <a:endParaRPr lang="ru-RU" sz="20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Парное программирование: Два разработчика за одним компьютером</a:t>
            </a:r>
            <a:endParaRPr lang="ru-RU"/>
          </a:p>
          <a:p>
            <a:pPr marL="800100" indent="-514350">
              <a:lnSpc>
                <a:spcPct val="200000"/>
              </a:lnSpc>
              <a:buChar char="•"/>
            </a:pPr>
            <a:endParaRPr lang="ru-RU" sz="20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Непрерывная интеграция (CI): Сборка и тесты после каждого коммита</a:t>
            </a:r>
            <a:endParaRPr lang="ru-RU"/>
          </a:p>
          <a:p>
            <a:pPr marL="800100" indent="-514350">
              <a:lnSpc>
                <a:spcPct val="200000"/>
              </a:lnSpc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97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C754A2-89B4-121D-F39D-B0C586A9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0C78B5B5-4C1B-4C5D-66DC-A40912306D0F}"/>
              </a:ext>
            </a:extLst>
          </p:cNvPr>
          <p:cNvSpPr/>
          <p:nvPr/>
        </p:nvSpPr>
        <p:spPr>
          <a:xfrm>
            <a:off x="565802" y="1983946"/>
            <a:ext cx="10951728" cy="6184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66DBE944-A7D3-C80E-3CF1-30F7DE70CE29}"/>
              </a:ext>
            </a:extLst>
          </p:cNvPr>
          <p:cNvSpPr/>
          <p:nvPr/>
        </p:nvSpPr>
        <p:spPr>
          <a:xfrm>
            <a:off x="565802" y="2711045"/>
            <a:ext cx="10951728" cy="544732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4211B488-2BBA-4E55-0F1B-12BC6ACB349D}"/>
              </a:ext>
            </a:extLst>
          </p:cNvPr>
          <p:cNvSpPr/>
          <p:nvPr/>
        </p:nvSpPr>
        <p:spPr>
          <a:xfrm>
            <a:off x="565802" y="3368041"/>
            <a:ext cx="10951728" cy="101790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9F60C538-0109-1023-A3BC-BEA4D64AA8F7}"/>
              </a:ext>
            </a:extLst>
          </p:cNvPr>
          <p:cNvSpPr/>
          <p:nvPr/>
        </p:nvSpPr>
        <p:spPr>
          <a:xfrm>
            <a:off x="565802" y="4463967"/>
            <a:ext cx="10951728" cy="80282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664BEF67-4A95-9B19-21DE-90D96CD700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44F73BF6-E3E7-0325-6FC5-826A23B41631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50897F7-4611-DDF8-A988-E86D196E3DF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5C6CD3C0-A8A8-D675-16E8-BD22B52768CE}"/>
              </a:ext>
            </a:extLst>
          </p:cNvPr>
          <p:cNvSpPr txBox="1"/>
          <p:nvPr/>
        </p:nvSpPr>
        <p:spPr>
          <a:xfrm>
            <a:off x="459988" y="259875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Командные и процессные практики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6C266-DCFD-AF17-7B61-254B1CFED46C}"/>
              </a:ext>
            </a:extLst>
          </p:cNvPr>
          <p:cNvSpPr txBox="1"/>
          <p:nvPr/>
        </p:nvSpPr>
        <p:spPr>
          <a:xfrm>
            <a:off x="-56500" y="1934115"/>
            <a:ext cx="10357281" cy="40133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Коллективное владение кодом: Любой может править любой участок</a:t>
            </a:r>
            <a:endParaRPr lang="ru-RU" sz="2000" dirty="0"/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Клиент всегда рядом (On-site Customer): Эксперт от бизнеса в команде</a:t>
            </a:r>
            <a:endParaRPr lang="ru-RU" sz="2000" dirty="0"/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Планирование игры (Planning Game): Оценка задач фишками (story </a:t>
            </a:r>
            <a:endParaRPr lang="ru-RU" sz="2000" dirty="0"/>
          </a:p>
          <a:p>
            <a:pPr marL="742950" lvl="1">
              <a:lnSpc>
                <a:spcPct val="200000"/>
              </a:lnSpc>
            </a:pPr>
            <a:r>
              <a:rPr lang="ru-RU" sz="2000"/>
              <a:t>       points)</a:t>
            </a:r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Метафоры системы: Общий понятный язык для всех</a:t>
            </a:r>
            <a:br>
              <a:rPr lang="en-US" dirty="0"/>
            </a:br>
            <a:endParaRPr lang="en-US" sz="1050"/>
          </a:p>
          <a:p>
            <a:pPr marL="742950" indent="-457200">
              <a:lnSpc>
                <a:spcPct val="200000"/>
              </a:lnSpc>
              <a:buFont typeface="Arial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9000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6B9BFF0-C61B-12D1-E53F-BA68CCBB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8D7D6B69-1934-CE8A-19B7-DE2089787840}"/>
              </a:ext>
            </a:extLst>
          </p:cNvPr>
          <p:cNvSpPr/>
          <p:nvPr/>
        </p:nvSpPr>
        <p:spPr>
          <a:xfrm>
            <a:off x="565801" y="2739800"/>
            <a:ext cx="10951728" cy="1251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A8FFA0D8-DEE7-B984-50E9-F8331BCFBB39}"/>
              </a:ext>
            </a:extLst>
          </p:cNvPr>
          <p:cNvSpPr/>
          <p:nvPr/>
        </p:nvSpPr>
        <p:spPr>
          <a:xfrm>
            <a:off x="565802" y="1842606"/>
            <a:ext cx="10951728" cy="8089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20938112-4471-56B8-199A-A4F75B551556}"/>
              </a:ext>
            </a:extLst>
          </p:cNvPr>
          <p:cNvSpPr/>
          <p:nvPr/>
        </p:nvSpPr>
        <p:spPr>
          <a:xfrm>
            <a:off x="565802" y="4056835"/>
            <a:ext cx="10951728" cy="75366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89AB459B-39A8-2F53-6C2C-3A7223626720}"/>
              </a:ext>
            </a:extLst>
          </p:cNvPr>
          <p:cNvSpPr/>
          <p:nvPr/>
        </p:nvSpPr>
        <p:spPr>
          <a:xfrm>
            <a:off x="565802" y="4873605"/>
            <a:ext cx="10951728" cy="75366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005CA0F4-C118-61EE-2A17-E1075123F7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7CA74A34-0741-F78C-3C4E-2D931335341C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EE7DF03-67E0-F7CE-402F-414B20D004C0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7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51A99965-8E53-CF12-6215-8FD891FD3A5F}"/>
              </a:ext>
            </a:extLst>
          </p:cNvPr>
          <p:cNvSpPr txBox="1"/>
          <p:nvPr/>
        </p:nvSpPr>
        <p:spPr>
          <a:xfrm>
            <a:off x="474784" y="422632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Жизненный цикл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F5F96-53D5-98A5-52FE-3779BDE815E9}"/>
              </a:ext>
            </a:extLst>
          </p:cNvPr>
          <p:cNvSpPr txBox="1"/>
          <p:nvPr/>
        </p:nvSpPr>
        <p:spPr>
          <a:xfrm>
            <a:off x="392097" y="1786631"/>
            <a:ext cx="10357281" cy="440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Истории пользователей (User Stories) → что нужно сделать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Итерация (1–3 недели): Планирование → Тесты → Кодинг → Разрыв тестов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Приемочные тесты (клиент принимает фичу)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Релиз. Переход к шагу 1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7466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CE37788-B3C9-CA96-F272-7546210B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0D630F6B-27E3-E4A1-6843-4B4D196CE05B}"/>
              </a:ext>
            </a:extLst>
          </p:cNvPr>
          <p:cNvSpPr/>
          <p:nvPr/>
        </p:nvSpPr>
        <p:spPr>
          <a:xfrm>
            <a:off x="510496" y="1818027"/>
            <a:ext cx="10951728" cy="136203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B42BE13B-8A8C-4CBF-BFA3-16F573F2D5F3}"/>
              </a:ext>
            </a:extLst>
          </p:cNvPr>
          <p:cNvSpPr/>
          <p:nvPr/>
        </p:nvSpPr>
        <p:spPr>
          <a:xfrm>
            <a:off x="510496" y="3363983"/>
            <a:ext cx="10951728" cy="201956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203AE19-5FA0-873E-AFEB-E153B6DF6A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DDA15E66-8C00-643A-3BE4-8CF2BB167B9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584079D-CD71-11E3-CEFA-225DCDA305DE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8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13CB70D-3DD1-7CF7-5E05-B1C93552DBDC}"/>
              </a:ext>
            </a:extLst>
          </p:cNvPr>
          <p:cNvSpPr txBox="1"/>
          <p:nvPr/>
        </p:nvSpPr>
        <p:spPr>
          <a:xfrm>
            <a:off x="393405" y="215486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Итоги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6DF90-92CB-4E5A-AAF7-9004C0FB4D79}"/>
              </a:ext>
            </a:extLst>
          </p:cNvPr>
          <p:cNvSpPr txBox="1"/>
          <p:nvPr/>
        </p:nvSpPr>
        <p:spPr>
          <a:xfrm>
            <a:off x="392097" y="1712889"/>
            <a:ext cx="10357281" cy="36710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Плюсы: Очень высокое качество кода, предсказуемость графика, минимальное количество багов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Минусы: Трудно с удаленной командой (парное программирование), требуется дисциплина, заказчик должен быть доступен 24/7</a:t>
            </a:r>
          </a:p>
        </p:txBody>
      </p:sp>
    </p:spTree>
    <p:extLst>
      <p:ext uri="{BB962C8B-B14F-4D97-AF65-F5344CB8AC3E}">
        <p14:creationId xmlns:p14="http://schemas.microsoft.com/office/powerpoint/2010/main" val="179838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2498064" y="1385783"/>
            <a:ext cx="6870555" cy="370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br>
              <a:rPr lang="ru-RU" sz="8000" dirty="0">
                <a:latin typeface="Arial"/>
                <a:ea typeface="Arial"/>
                <a:cs typeface="Arial"/>
              </a:rPr>
            </a:b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FAE21B-987F-23BD-CF8F-31C5BEE9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8DBF6C2-0C15-F8F3-C924-1B3E68D7B6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>
                <a:cs typeface="Roboto"/>
              </a:rPr>
              <a:t>Экстремальное </a:t>
            </a:r>
            <a:br>
              <a:rPr lang="ru-RU" sz="4800" dirty="0">
                <a:cs typeface="Roboto"/>
              </a:rPr>
            </a:br>
            <a:r>
              <a:rPr lang="ru-RU" sz="4800">
                <a:cs typeface="Roboto"/>
              </a:rPr>
              <a:t>программирование </a:t>
            </a:r>
            <a:br>
              <a:rPr lang="ru-RU" sz="4800" dirty="0">
                <a:cs typeface="Roboto"/>
              </a:rPr>
            </a:br>
            <a:endParaRPr lang="ru-RU" sz="4800">
              <a:cs typeface="Roboto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F6EBAF7-A103-96AE-8DCE-EBE73E6EFDE4}"/>
              </a:ext>
            </a:extLst>
          </p:cNvPr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  <p:extLst>
      <p:ext uri="{BB962C8B-B14F-4D97-AF65-F5344CB8AC3E}">
        <p14:creationId xmlns:p14="http://schemas.microsoft.com/office/powerpoint/2010/main" val="34837659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10</Slides>
  <Notes>10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GradientRiseVTI</vt:lpstr>
      <vt:lpstr>Экстремальное  программирование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Экстремальное  программирование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230</cp:revision>
  <dcterms:modified xsi:type="dcterms:W3CDTF">2026-05-15T17:38:36Z</dcterms:modified>
</cp:coreProperties>
</file>