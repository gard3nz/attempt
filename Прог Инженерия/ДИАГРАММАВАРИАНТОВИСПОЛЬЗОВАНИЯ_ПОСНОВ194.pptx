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6" r:id="rId1"/>
  </p:sldMasterIdLst>
  <p:notesMasterIdLst>
    <p:notesMasterId r:id="rId12"/>
  </p:notesMasterIdLst>
  <p:sldIdLst>
    <p:sldId id="256" r:id="rId2"/>
    <p:sldId id="257" r:id="rId3"/>
    <p:sldId id="270" r:id="rId4"/>
    <p:sldId id="263" r:id="rId5"/>
    <p:sldId id="264" r:id="rId6"/>
    <p:sldId id="268" r:id="rId7"/>
    <p:sldId id="265" r:id="rId8"/>
    <p:sldId id="266" r:id="rId9"/>
    <p:sldId id="262" r:id="rId10"/>
    <p:sldId id="269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68824E-B5EE-4129-A080-C839F667B1D2}" v="845" dt="2026-05-15T17:08:14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CF0428B-3C00-8796-2BD7-B55A5D41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6372C77E-3956-EA86-98F5-8792321FFC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3D0BFAB3-2BD5-0ECD-A95B-EA46E864F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1193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B12BD57-042F-76C0-0C84-4274AE47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855A4A39-FF08-3284-B96C-6FCA55587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41331A24-0861-BB5F-DD64-4E2A3893CA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708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AB022B9-A6EB-00C9-1D82-1825ED9BF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0A7D1EF-AAF3-15F8-D77B-835279AE37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7FEAEF95-14A7-AB1F-DC64-BCFC31D1FB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4878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D90CA20C-8014-5C27-747D-27504F975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38A13682-BC5B-7A3B-FD7F-BE4F37910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FAA1E898-F61B-1C0C-2269-B69391259B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839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181B4BB4-6151-AE3B-67C1-EAED1DD36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88E5EAC-8C54-6A32-AC21-0BA676B82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73CF553E-AD50-30D4-26D2-50BB1CE8A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0693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E8976573-5912-18E0-D269-E730C0E0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752F735B-AAEE-AF71-50F2-5D8E5CC320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B6C9C84B-CA2F-9952-594D-E86D5B1E0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0154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D17DD4E-FE9A-1A4F-5E95-BF51432FE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B7F73657-61C5-BB48-6CF2-B848AF659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8083E457-E364-4E9A-BEF5-7341625A6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2843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66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56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65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48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45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308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0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9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697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17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938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Verdana"/>
              <a:buNone/>
              <a:defRPr sz="6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225" y="626121"/>
            <a:ext cx="2646405" cy="724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0004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19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8200" y="2502453"/>
            <a:ext cx="10515600" cy="7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4800" dirty="0">
                <a:cs typeface="Roboto"/>
              </a:rPr>
              <a:t>ДИАГРАММА ВАРИАНТОВ </a:t>
            </a:r>
            <a:r>
              <a:rPr lang="ru-RU" sz="4800">
                <a:cs typeface="Roboto"/>
              </a:rPr>
              <a:t>ИСПОЛЬЗОВАНИЯ </a:t>
            </a:r>
            <a:r>
              <a:rPr lang="ru-RU" sz="4800" dirty="0">
                <a:cs typeface="Roboto"/>
              </a:rPr>
              <a:t> </a:t>
            </a:r>
            <a:br>
              <a:rPr lang="ru-RU" sz="4800" dirty="0">
                <a:cs typeface="Roboto"/>
              </a:rPr>
            </a:br>
            <a:endParaRPr lang="ru-RU" sz="4800">
              <a:cs typeface="Roboto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380695" y="615993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2400">
                <a:solidFill>
                  <a:schemeClr val="lt1"/>
                </a:solidFill>
                <a:latin typeface="Verdana"/>
                <a:ea typeface="Verdana"/>
              </a:rPr>
              <a:t>Студент гр.194 Поснов В.А.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15600" y="230282"/>
            <a:ext cx="888348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solidFill>
                  <a:schemeClr val="tx1"/>
                </a:solidFill>
                <a:latin typeface="Verdana"/>
                <a:ea typeface="Verdana"/>
                <a:sym typeface="Verdana"/>
              </a:rPr>
              <a:t>Диаграмма вариантов использования</a:t>
            </a:r>
            <a:endParaRPr lang="ru-RU" sz="3600" b="1" dirty="0">
              <a:solidFill>
                <a:schemeClr val="tx1"/>
              </a:solidFill>
              <a:latin typeface="Verdana"/>
              <a:ea typeface="Verdan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4965F-D891-F3EE-1FB0-32EB01821AC7}"/>
              </a:ext>
            </a:extLst>
          </p:cNvPr>
          <p:cNvSpPr txBox="1"/>
          <p:nvPr/>
        </p:nvSpPr>
        <p:spPr>
          <a:xfrm>
            <a:off x="178809" y="1815322"/>
            <a:ext cx="11017229" cy="35636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457200">
              <a:lnSpc>
                <a:spcPct val="150000"/>
              </a:lnSpc>
              <a:buChar char="•"/>
            </a:pPr>
            <a:r>
              <a:rPr lang="ru-RU" sz="2800">
                <a:latin typeface="Verdana"/>
                <a:ea typeface="Verdana"/>
              </a:rPr>
              <a:t>Диаграмма вариантов использования (Use Case Diagram) - это визуальное представление взаимодействия пользователей (акторов) с системой и функций, которые система предоставляет для достижения конкретных целей.</a:t>
            </a:r>
          </a:p>
          <a:p>
            <a:pPr algn="ctr">
              <a:lnSpc>
                <a:spcPct val="150000"/>
              </a:lnSpc>
            </a:pPr>
            <a:endParaRPr lang="ru-RU" sz="1200" dirty="0">
              <a:latin typeface="Verdana"/>
              <a:ea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01AF2EF-4641-FE08-A9A5-CC0B32416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AFF71B1D-AD2D-0093-1409-7C026A8FDF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A494D2E5-C1C9-058D-5949-30A812E7D467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2E5A2E0C-B065-B083-AE74-EAC4C5EC28AD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0B374D1F-283E-783C-9149-0C6952A4CBDD}"/>
              </a:ext>
            </a:extLst>
          </p:cNvPr>
          <p:cNvSpPr txBox="1"/>
          <p:nvPr/>
        </p:nvSpPr>
        <p:spPr>
          <a:xfrm>
            <a:off x="415600" y="230282"/>
            <a:ext cx="88834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solidFill>
                  <a:schemeClr val="tx1"/>
                </a:solidFill>
                <a:latin typeface="Verdana"/>
                <a:ea typeface="Verdana"/>
                <a:sym typeface="Verdana"/>
              </a:rPr>
              <a:t>Пример UCD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EB504EF0-125B-1D13-0AB9-748573401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329" y="1089973"/>
            <a:ext cx="6451146" cy="478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87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BC61C4E-DEAF-A1D6-7312-0862B3AE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21AFCCAE-B525-D77B-11FB-C1E5E36280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8871C8AA-9BAC-ABA2-5350-9194667ABA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989AB1C7-F92A-31A6-7A1C-0E684851E4A3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0955AEAE-5003-C8AA-6750-ED7787A3C5A8}"/>
              </a:ext>
            </a:extLst>
          </p:cNvPr>
          <p:cNvSpPr txBox="1"/>
          <p:nvPr/>
        </p:nvSpPr>
        <p:spPr>
          <a:xfrm>
            <a:off x="467386" y="289467"/>
            <a:ext cx="88834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latin typeface="Verdana"/>
                <a:ea typeface="Verdana"/>
                <a:sym typeface="Verdana"/>
              </a:rPr>
              <a:t>Плюсы рисовать UCD</a:t>
            </a:r>
            <a:endParaRPr lang="ru-RU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68A68A65-AE7B-A719-4BB4-7F1DD2D13132}"/>
              </a:ext>
            </a:extLst>
          </p:cNvPr>
          <p:cNvSpPr/>
          <p:nvPr/>
        </p:nvSpPr>
        <p:spPr>
          <a:xfrm>
            <a:off x="865784" y="3547563"/>
            <a:ext cx="9669900" cy="17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indent="-457200">
              <a:lnSpc>
                <a:spcPct val="150000"/>
              </a:lnSpc>
              <a:buChar char="•"/>
            </a:pPr>
            <a:endParaRPr lang="ru-RU" sz="3200">
              <a:solidFill>
                <a:srgbClr val="0F111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E414F-6A54-8B6E-0B2F-C8E4BB0280F7}"/>
              </a:ext>
            </a:extLst>
          </p:cNvPr>
          <p:cNvSpPr txBox="1"/>
          <p:nvPr/>
        </p:nvSpPr>
        <p:spPr>
          <a:xfrm>
            <a:off x="364883" y="1296774"/>
            <a:ext cx="10357281" cy="43697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457200">
              <a:lnSpc>
                <a:spcPct val="150000"/>
              </a:lnSpc>
              <a:buChar char="•"/>
            </a:pPr>
            <a:r>
              <a:rPr lang="ru-RU" sz="2800">
                <a:latin typeface="Verdana"/>
                <a:ea typeface="Verdana"/>
              </a:rPr>
              <a:t>Помогают заказчику и разработчику говорить на одном языке</a:t>
            </a:r>
          </a:p>
          <a:p>
            <a:pPr marL="742950" indent="-457200">
              <a:lnSpc>
                <a:spcPct val="150000"/>
              </a:lnSpc>
              <a:buChar char="•"/>
            </a:pPr>
            <a:r>
              <a:rPr lang="ru-RU" sz="2800">
                <a:latin typeface="Verdana"/>
                <a:ea typeface="Verdana"/>
              </a:rPr>
              <a:t>Видно какие задачи решает конкретный человек</a:t>
            </a:r>
          </a:p>
          <a:p>
            <a:pPr marL="742950" indent="-457200">
              <a:lnSpc>
                <a:spcPct val="150000"/>
              </a:lnSpc>
              <a:buChar char="•"/>
            </a:pPr>
            <a:r>
              <a:rPr lang="ru-RU" sz="2800">
                <a:latin typeface="Verdana"/>
                <a:ea typeface="Verdana"/>
              </a:rPr>
              <a:t>Каждый овал на диаграмме - готовый сценарий для тестирования</a:t>
            </a:r>
          </a:p>
          <a:p>
            <a:pPr marL="742950" indent="-457200">
              <a:lnSpc>
                <a:spcPct val="150000"/>
              </a:lnSpc>
              <a:buChar char="•"/>
            </a:pPr>
            <a:r>
              <a:rPr lang="ru-RU" sz="2800">
                <a:latin typeface="Verdana"/>
                <a:ea typeface="Verdana"/>
              </a:rPr>
              <a:t>Не перегружены техническими деталями</a:t>
            </a:r>
          </a:p>
          <a:p>
            <a:pPr marL="742950" indent="-457200">
              <a:lnSpc>
                <a:spcPct val="150000"/>
              </a:lnSpc>
              <a:buChar char="•"/>
            </a:pPr>
            <a:endParaRPr lang="ru-RU" sz="2000" dirty="0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88427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03B7693C-F26F-98D7-EAE8-A85E9010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A6ADDD9C-0420-483F-473A-E184AF1533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6294097E-B792-EEF3-BDF3-DD76528D574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7BFAFDAD-6086-8488-36A9-9908248E1681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5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B2637481-47EE-93F9-6556-7757DB826D2D}"/>
              </a:ext>
            </a:extLst>
          </p:cNvPr>
          <p:cNvSpPr txBox="1"/>
          <p:nvPr/>
        </p:nvSpPr>
        <p:spPr>
          <a:xfrm>
            <a:off x="452590" y="267273"/>
            <a:ext cx="888348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solidFill>
                  <a:schemeClr val="tx1"/>
                </a:solidFill>
                <a:latin typeface="Verdana"/>
                <a:ea typeface="Verdana"/>
              </a:rPr>
              <a:t>Основные элементы: Актеры и Прецеденты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CB0A7-84FE-3046-5642-D1A99B9095B9}"/>
              </a:ext>
            </a:extLst>
          </p:cNvPr>
          <p:cNvSpPr txBox="1"/>
          <p:nvPr/>
        </p:nvSpPr>
        <p:spPr>
          <a:xfrm>
            <a:off x="392097" y="1786631"/>
            <a:ext cx="10357281" cy="4506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457200">
              <a:lnSpc>
                <a:spcPct val="150000"/>
              </a:lnSpc>
              <a:buFont typeface="Arial,Sans-Serif"/>
              <a:buChar char="•"/>
            </a:pPr>
            <a:r>
              <a:rPr lang="ru-RU" sz="3200">
                <a:latin typeface="Verdana"/>
                <a:ea typeface="Verdana"/>
              </a:rPr>
              <a:t>Актер: рисуется в форме человека</a:t>
            </a:r>
          </a:p>
          <a:p>
            <a:pPr marL="742950" indent="-457200">
              <a:lnSpc>
                <a:spcPct val="150000"/>
              </a:lnSpc>
              <a:buFont typeface="Arial,Sans-Serif"/>
              <a:buChar char="•"/>
            </a:pPr>
            <a:r>
              <a:rPr lang="ru-RU" sz="3200">
                <a:latin typeface="Verdana"/>
                <a:ea typeface="Verdana"/>
              </a:rPr>
              <a:t>Прецедент: рисуется в виде овала</a:t>
            </a:r>
            <a:endParaRPr lang="en-US" sz="3200">
              <a:latin typeface="Verdana"/>
              <a:ea typeface="Verdana"/>
            </a:endParaRPr>
          </a:p>
          <a:p>
            <a:pPr marL="742950" indent="-457200">
              <a:lnSpc>
                <a:spcPct val="150000"/>
              </a:lnSpc>
              <a:buFont typeface="Arial,Sans-Serif"/>
              <a:buChar char="•"/>
            </a:pPr>
            <a:r>
              <a:rPr lang="ru-RU" sz="3200">
                <a:latin typeface="Verdana"/>
                <a:ea typeface="Verdana"/>
              </a:rPr>
              <a:t>Системная граница: прямоугольник, отделяющий функции внутри системы от внешних актеров</a:t>
            </a:r>
            <a:endParaRPr lang="en-US" sz="3200">
              <a:latin typeface="Verdana"/>
              <a:ea typeface="Verdana"/>
            </a:endParaRPr>
          </a:p>
          <a:p>
            <a:pPr marL="800100" indent="-514350">
              <a:lnSpc>
                <a:spcPct val="200000"/>
              </a:lnSpc>
              <a:buAutoNum type="arabicPeriod"/>
            </a:pPr>
            <a:endParaRPr lang="ru-RU" sz="2800" dirty="0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13908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06CC855-49AE-7469-4AFF-13E8E4925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C258C96C-C200-FB68-4ABF-A8A6EA4A3A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A236A63F-B187-687F-680B-4EA6319CE11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7076F33A-F612-EF17-C4AA-C9439D709C9F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C78A0F8E-F245-2F9F-4675-EE6845348371}"/>
              </a:ext>
            </a:extLst>
          </p:cNvPr>
          <p:cNvSpPr txBox="1"/>
          <p:nvPr/>
        </p:nvSpPr>
        <p:spPr>
          <a:xfrm>
            <a:off x="452590" y="267273"/>
            <a:ext cx="88834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solidFill>
                  <a:schemeClr val="tx1"/>
                </a:solidFill>
                <a:ea typeface="Verdana"/>
              </a:rPr>
              <a:t>Типы связей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F4542B-C008-9BB6-3B8B-C6D1D0579BC3}"/>
              </a:ext>
            </a:extLst>
          </p:cNvPr>
          <p:cNvSpPr txBox="1"/>
          <p:nvPr/>
        </p:nvSpPr>
        <p:spPr>
          <a:xfrm>
            <a:off x="293775" y="1333644"/>
            <a:ext cx="9302727" cy="53984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indent="-514350">
              <a:lnSpc>
                <a:spcPct val="200000"/>
              </a:lnSpc>
              <a:buChar char="•"/>
            </a:pPr>
            <a:r>
              <a:rPr lang="ru-RU" sz="2200">
                <a:latin typeface="Verdana"/>
                <a:ea typeface="Verdana"/>
              </a:rPr>
              <a:t>Ассоциация: простая линия</a:t>
            </a:r>
            <a:endParaRPr lang="ru-RU" sz="2200" dirty="0">
              <a:latin typeface="Verdana"/>
              <a:ea typeface="Verdana"/>
            </a:endParaRPr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200">
                <a:latin typeface="Verdana"/>
                <a:ea typeface="Verdana"/>
              </a:rPr>
              <a:t>Включение: пунктирная надпись с пометкой &lt;&lt;include&gt;&gt;</a:t>
            </a:r>
            <a:endParaRPr lang="ru-RU" sz="2200" dirty="0">
              <a:latin typeface="Verdana"/>
              <a:ea typeface="Verdana"/>
            </a:endParaRPr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200">
                <a:latin typeface="Verdana"/>
                <a:ea typeface="Verdana"/>
              </a:rPr>
              <a:t>Расширение: пунктирная надпись с пометкой  &lt;&lt;extend&gt;&gt;</a:t>
            </a:r>
            <a:endParaRPr lang="ru-RU" sz="2200" dirty="0">
              <a:latin typeface="Verdana"/>
              <a:ea typeface="Verdana"/>
            </a:endParaRPr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200">
                <a:latin typeface="Verdana"/>
                <a:ea typeface="Verdana"/>
              </a:rPr>
              <a:t>Обобщение: линия со стрелкой в форме незакрашенного треугольника</a:t>
            </a:r>
            <a:endParaRPr lang="ru-RU" sz="2200" dirty="0">
              <a:latin typeface="Verdana"/>
              <a:ea typeface="Verdana"/>
            </a:endParaRPr>
          </a:p>
          <a:p>
            <a:pPr marL="800100" indent="-514350">
              <a:lnSpc>
                <a:spcPct val="200000"/>
              </a:lnSpc>
              <a:buChar char="•"/>
            </a:pPr>
            <a:endParaRPr lang="ru-RU" sz="2200" dirty="0">
              <a:latin typeface="Verdana"/>
              <a:ea typeface="Verdana"/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72283141-C509-C900-225D-C3EB84ADEBE0}"/>
              </a:ext>
            </a:extLst>
          </p:cNvPr>
          <p:cNvCxnSpPr/>
          <p:nvPr/>
        </p:nvCxnSpPr>
        <p:spPr>
          <a:xfrm>
            <a:off x="9742713" y="5395232"/>
            <a:ext cx="968829" cy="29937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Блок-схема: извлечение 8">
            <a:extLst>
              <a:ext uri="{FF2B5EF4-FFF2-40B4-BE49-F238E27FC236}">
                <a16:creationId xmlns:a16="http://schemas.microsoft.com/office/drawing/2014/main" id="{C0DAFFEB-2221-B69C-2D1E-BEA3B822D3F3}"/>
              </a:ext>
            </a:extLst>
          </p:cNvPr>
          <p:cNvSpPr/>
          <p:nvPr/>
        </p:nvSpPr>
        <p:spPr>
          <a:xfrm rot="5400000">
            <a:off x="10759849" y="5303382"/>
            <a:ext cx="175533" cy="250373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978D71FC-EAED-6A8B-658A-B068323C17B8}"/>
              </a:ext>
            </a:extLst>
          </p:cNvPr>
          <p:cNvCxnSpPr>
            <a:cxnSpLocks/>
          </p:cNvCxnSpPr>
          <p:nvPr/>
        </p:nvCxnSpPr>
        <p:spPr>
          <a:xfrm>
            <a:off x="9763124" y="1748517"/>
            <a:ext cx="1302203" cy="272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 descr="Изображение выглядит как текст, белый, линия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0C9DEA-8DB1-B6CC-BB84-9E4306235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0772" y="3646713"/>
            <a:ext cx="1222958" cy="91848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217BF3F-2300-4460-2756-14F172C4AF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2446" y="2449286"/>
            <a:ext cx="1300842" cy="69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7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03C754A2-89B4-121D-F39D-B0C586A9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664BEF67-4A95-9B19-21DE-90D96CD700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44F73BF6-E3E7-0325-6FC5-826A23B41631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50897F7-4611-DDF8-A988-E86D196E3DF3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7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5C6CD3C0-A8A8-D675-16E8-BD22B52768CE}"/>
              </a:ext>
            </a:extLst>
          </p:cNvPr>
          <p:cNvSpPr txBox="1"/>
          <p:nvPr/>
        </p:nvSpPr>
        <p:spPr>
          <a:xfrm>
            <a:off x="459988" y="259875"/>
            <a:ext cx="888348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latin typeface="Verdana"/>
                <a:ea typeface="Verdana"/>
                <a:sym typeface="Verdana"/>
              </a:rPr>
              <a:t>Как построить грамотную диаграмму?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6C266-DCFD-AF17-7B61-254B1CFED46C}"/>
              </a:ext>
            </a:extLst>
          </p:cNvPr>
          <p:cNvSpPr txBox="1"/>
          <p:nvPr/>
        </p:nvSpPr>
        <p:spPr>
          <a:xfrm>
            <a:off x="-56500" y="1934115"/>
            <a:ext cx="10357281" cy="38790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57300" lvl="1" indent="-514350">
              <a:lnSpc>
                <a:spcPct val="200000"/>
              </a:lnSpc>
              <a:buFont typeface="Arial"/>
              <a:buChar char="•"/>
            </a:pPr>
            <a:r>
              <a:rPr lang="ru-RU" sz="3200">
                <a:latin typeface="Verdana"/>
                <a:ea typeface="Verdana"/>
              </a:rPr>
              <a:t>Определить границы</a:t>
            </a:r>
          </a:p>
          <a:p>
            <a:pPr marL="1257300" lvl="1" indent="-514350">
              <a:lnSpc>
                <a:spcPct val="200000"/>
              </a:lnSpc>
              <a:buFont typeface="Arial"/>
              <a:buChar char="•"/>
            </a:pPr>
            <a:r>
              <a:rPr lang="ru-RU" sz="3200">
                <a:latin typeface="Verdana"/>
                <a:ea typeface="Verdana"/>
              </a:rPr>
              <a:t>Найти актеров</a:t>
            </a:r>
          </a:p>
          <a:p>
            <a:pPr marL="1257300" lvl="1" indent="-514350">
              <a:lnSpc>
                <a:spcPct val="200000"/>
              </a:lnSpc>
              <a:buFont typeface="Arial"/>
              <a:buChar char="•"/>
            </a:pPr>
            <a:r>
              <a:rPr lang="ru-RU" sz="3200">
                <a:latin typeface="Verdana"/>
                <a:ea typeface="Verdana"/>
              </a:rPr>
              <a:t>Сформулировать цели</a:t>
            </a:r>
          </a:p>
          <a:p>
            <a:pPr marL="1257300" lvl="1" indent="-514350">
              <a:lnSpc>
                <a:spcPct val="200000"/>
              </a:lnSpc>
              <a:buFont typeface="Arial"/>
              <a:buChar char="•"/>
            </a:pPr>
            <a:r>
              <a:rPr lang="ru-RU" sz="3200">
                <a:latin typeface="Verdana"/>
                <a:ea typeface="Verdana"/>
              </a:rPr>
              <a:t>Установить связи</a:t>
            </a:r>
          </a:p>
        </p:txBody>
      </p:sp>
    </p:spTree>
    <p:extLst>
      <p:ext uri="{BB962C8B-B14F-4D97-AF65-F5344CB8AC3E}">
        <p14:creationId xmlns:p14="http://schemas.microsoft.com/office/powerpoint/2010/main" val="1690000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CE37788-B3C9-CA96-F272-7546210B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2203AE19-5FA0-873E-AFEB-E153B6DF6A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DDA15E66-8C00-643A-3BE4-8CF2BB167B95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B584079D-CD71-11E3-CEFA-225DCDA305DE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8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113CB70D-3DD1-7CF7-5E05-B1C93552DBDC}"/>
              </a:ext>
            </a:extLst>
          </p:cNvPr>
          <p:cNvSpPr txBox="1"/>
          <p:nvPr/>
        </p:nvSpPr>
        <p:spPr>
          <a:xfrm>
            <a:off x="393405" y="215486"/>
            <a:ext cx="88834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latin typeface="Verdana"/>
                <a:ea typeface="Verdana"/>
                <a:sym typeface="Verdana"/>
              </a:rPr>
              <a:t>Заключение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56DF90-92CB-4E5A-AAF7-9004C0FB4D79}"/>
              </a:ext>
            </a:extLst>
          </p:cNvPr>
          <p:cNvSpPr txBox="1"/>
          <p:nvPr/>
        </p:nvSpPr>
        <p:spPr>
          <a:xfrm>
            <a:off x="306065" y="2057018"/>
            <a:ext cx="10584650" cy="2536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indent="-514350">
              <a:lnSpc>
                <a:spcPct val="200000"/>
              </a:lnSpc>
              <a:buChar char="•"/>
            </a:pPr>
            <a:r>
              <a:rPr lang="ru-RU" sz="2800">
                <a:latin typeface="Verdana"/>
                <a:ea typeface="Verdana"/>
              </a:rPr>
              <a:t>Не описывает алгоритм, а описывает возможности.</a:t>
            </a:r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800">
                <a:latin typeface="Verdana"/>
                <a:ea typeface="Verdana"/>
              </a:rPr>
              <a:t>Хорошая диаграмма - это фундамент, на котором строится вся дальнейшая архитектура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798380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2498064" y="1385783"/>
            <a:ext cx="6870555" cy="370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ctr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ru-RU" sz="8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СПАСИБО </a:t>
            </a:r>
            <a:br>
              <a:rPr lang="ru-RU" sz="8000" dirty="0">
                <a:latin typeface="Arial"/>
                <a:ea typeface="Arial"/>
                <a:cs typeface="Arial"/>
              </a:rPr>
            </a:br>
            <a:r>
              <a:rPr lang="ru-RU" sz="8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ЗА ВНИМАНИЕ!</a:t>
            </a:r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AFAE21B-987F-23BD-CF8F-31C5BEE9C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8DBF6C2-0C15-F8F3-C924-1B3E68D7B6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502453"/>
            <a:ext cx="10515600" cy="7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4800">
                <a:cs typeface="Roboto"/>
              </a:rPr>
              <a:t>ДИАГРАММА ВАРИАНТОВ ИСПОЛЬЗОВАНИЯ  </a:t>
            </a:r>
            <a:br>
              <a:rPr lang="ru-RU" sz="4800" dirty="0">
                <a:cs typeface="Roboto"/>
              </a:rPr>
            </a:br>
            <a:endParaRPr lang="ru-RU" sz="4800" dirty="0">
              <a:cs typeface="Roboto"/>
            </a:endParaRPr>
          </a:p>
          <a:p>
            <a:pPr algn="just">
              <a:lnSpc>
                <a:spcPct val="100000"/>
              </a:lnSpc>
            </a:pPr>
            <a:endParaRPr lang="ru-RU" sz="4800" dirty="0">
              <a:cs typeface="Roboto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9F6EBAF7-A103-96AE-8DCE-EBE73E6EFDE4}"/>
              </a:ext>
            </a:extLst>
          </p:cNvPr>
          <p:cNvSpPr txBox="1"/>
          <p:nvPr/>
        </p:nvSpPr>
        <p:spPr>
          <a:xfrm>
            <a:off x="7380695" y="615993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2400">
                <a:solidFill>
                  <a:schemeClr val="lt1"/>
                </a:solidFill>
                <a:latin typeface="Verdana"/>
                <a:ea typeface="Verdana"/>
              </a:rPr>
              <a:t>Студент гр.194 Поснов В.А.</a:t>
            </a:r>
          </a:p>
        </p:txBody>
      </p:sp>
    </p:spTree>
    <p:extLst>
      <p:ext uri="{BB962C8B-B14F-4D97-AF65-F5344CB8AC3E}">
        <p14:creationId xmlns:p14="http://schemas.microsoft.com/office/powerpoint/2010/main" val="34837659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10</Slides>
  <Notes>10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GradientRiseVTI</vt:lpstr>
      <vt:lpstr>ДИАГРАММА ВАРИАНТОВ ИСПОЛЬЗОВАНИЯ 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ДИАГРАММА ВАРИАНТОВ ИСПОЛЬЗОВАНИЯ 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372</cp:revision>
  <dcterms:modified xsi:type="dcterms:W3CDTF">2026-05-15T17:08:55Z</dcterms:modified>
</cp:coreProperties>
</file>