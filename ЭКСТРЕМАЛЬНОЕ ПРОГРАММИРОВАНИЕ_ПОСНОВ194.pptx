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</p:sldMasterIdLst>
  <p:notesMasterIdLst>
    <p:notesMasterId r:id="rId12"/>
  </p:notesMasterIdLst>
  <p:sldIdLst>
    <p:sldId id="256" r:id="rId2"/>
    <p:sldId id="257" r:id="rId3"/>
    <p:sldId id="263" r:id="rId4"/>
    <p:sldId id="264" r:id="rId5"/>
    <p:sldId id="268" r:id="rId6"/>
    <p:sldId id="265" r:id="rId7"/>
    <p:sldId id="267" r:id="rId8"/>
    <p:sldId id="266" r:id="rId9"/>
    <p:sldId id="262" r:id="rId10"/>
    <p:sldId id="269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71EE7-CCBA-4A64-8205-624D4AF33031}" v="492" dt="2026-04-11T07:04:44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B12BD57-042F-76C0-0C84-4274AE47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855A4A39-FF08-3284-B96C-6FCA555873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41331A24-0861-BB5F-DD64-4E2A3893CA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08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AAB022B9-A6EB-00C9-1D82-1825ED9B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0A7D1EF-AAF3-15F8-D77B-835279AE37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FEAEF95-14A7-AB1F-DC64-BCFC31D1F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4878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D90CA20C-8014-5C27-747D-27504F975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38A13682-BC5B-7A3B-FD7F-BE4F37910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FAA1E898-F61B-1C0C-2269-B69391259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83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81B4BB4-6151-AE3B-67C1-EAED1DD3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F88E5EAC-8C54-6A32-AC21-0BA676B82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73CF553E-AD50-30D4-26D2-50BB1CE8A3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0693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263FC22-225B-5760-9AB2-720D77A1D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14277D14-36FA-F15A-2F32-23C8F733CB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00C7526D-43A7-A3E9-59D8-800C68D0E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0905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E8976573-5912-18E0-D269-E730C0E0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752F735B-AAEE-AF71-50F2-5D8E5CC320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B6C9C84B-CA2F-9952-594D-E86D5B1E0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0154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0D17DD4E-FE9A-1A4F-5E95-BF51432F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>
            <a:extLst>
              <a:ext uri="{FF2B5EF4-FFF2-40B4-BE49-F238E27FC236}">
                <a16:creationId xmlns:a16="http://schemas.microsoft.com/office/drawing/2014/main" id="{B7F73657-61C5-BB48-6CF2-B848AF659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>
            <a:extLst>
              <a:ext uri="{FF2B5EF4-FFF2-40B4-BE49-F238E27FC236}">
                <a16:creationId xmlns:a16="http://schemas.microsoft.com/office/drawing/2014/main" id="{8083E457-E364-4E9A-BEF5-7341625A6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2843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736A0-9F24-45BF-B389-F6478DB45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28700"/>
            <a:ext cx="9144000" cy="2481263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spc="7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3D85EF-076F-4C35-862A-BAFF685DD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4376"/>
            <a:ext cx="9144000" cy="1433423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b="1" cap="all" spc="600" baseline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221EC-BF54-4DDD-8900-F2027CDA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411FB-1606-4EC5-9BCA-2DC04C2243EA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5AB69-7069-48FB-8925-F2BA8412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9C32A-F7A5-4E3B-A28F-09C82341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66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99D7-1EE5-4262-9359-A0E2B733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3080"/>
            <a:ext cx="10240903" cy="123348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DA1C5-272A-45C2-A11A-E7769A27D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14939"/>
            <a:ext cx="10240903" cy="39561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3DA15-1EAB-4524-9BB7-8A7DA82A2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CAA53-8FBA-45E2-8B10-F7DD55E4E759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B93B9-7818-489D-AFFB-B6EAD27F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28D36-894E-4FCB-B8BB-84DE89949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563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64F1-5687-421F-B3DF-BA3C8DADC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930" y="1709738"/>
            <a:ext cx="9966519" cy="2852737"/>
          </a:xfrm>
        </p:spPr>
        <p:txBody>
          <a:bodyPr anchor="b">
            <a:normAutofit/>
          </a:bodyPr>
          <a:lstStyle>
            <a:lvl1pPr>
              <a:defRPr sz="44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BB876-5FD9-4964-BD37-6F05DAEBE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0930" y="4976327"/>
            <a:ext cx="9966520" cy="1113323"/>
          </a:xfrm>
        </p:spPr>
        <p:txBody>
          <a:bodyPr>
            <a:normAutofit/>
          </a:bodyPr>
          <a:lstStyle>
            <a:lvl1pPr marL="0" indent="0">
              <a:buNone/>
              <a:defRPr sz="12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EA80A-FCDD-4009-9A1F-8B548178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C84CF-6F0D-4195-920D-9D6F75893720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A3422-56D9-4942-BC63-831AED91F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4B42A-AC2C-4FD8-AD0D-BECDD384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651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DAF1-8359-4A0F-91B3-03E77C670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054" y="457200"/>
            <a:ext cx="10309745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E3D3-6B33-4CA0-B06B-A8BB05CAB3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44054" y="1996141"/>
            <a:ext cx="4975746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9C334-815D-47FD-A9B5-E871E286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96141"/>
            <a:ext cx="5181600" cy="41808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975F2-7A90-4820-B90F-D28E31A3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B3BBE-A1CF-4CC7-B02C-EBCBBE110242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CFAD5-8AF8-4610-8324-85AA062E2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08CC8-C46E-4A10-8A83-7A251067E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48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2B8-F9D9-4F53-A4A6-F12EB5F12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490" y="457200"/>
            <a:ext cx="9986898" cy="12334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070CA-85E9-47C7-8564-FFA1AE34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8490" y="1681163"/>
            <a:ext cx="462908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8D4B1-41B3-4BF5-9076-A16984A81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68490" y="2505075"/>
            <a:ext cx="4629085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6A38DC-A016-4CFD-AC19-F24A9E062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4816" y="1681163"/>
            <a:ext cx="501057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F930FA-8C00-42AB-B2D1-FE4E4BDB3C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4814" y="2505075"/>
            <a:ext cx="501057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8B698E-FAE5-4F2C-AE0E-4FD281E8F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D63E4-71A5-4C63-9515-748B28B89764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4BB6C-CAA4-4EA8-8EA1-65ADE05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B6A12-0532-47CA-B070-232141CC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5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08FA1-831E-4AD6-B0D1-BA85E67A5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457200"/>
            <a:ext cx="9982199" cy="123348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94142-C469-4B0E-8C01-C64BA28F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92BAC-F228-4DAC-8800-3D810F869187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AFCE6-5C7E-438F-8D4A-21E155681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CFD88-63EA-427F-978C-B7844D1A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308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82A4F0-76A5-4852-982B-32B3B685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EFFE8-7E8E-427A-AB26-E496551AFB7B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50CFAE-4BEB-4272-A2E6-FDD9D6A0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B71B7-74B7-4CF1-8FE0-F4863CD7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00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432BE-C4E5-4F12-AB53-EBEF2B76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755" y="457200"/>
            <a:ext cx="3932237" cy="192143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7F57-4ABF-4BA4-A892-38857A02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130" y="987425"/>
            <a:ext cx="5707257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2E444-E5BD-443F-AB83-84D7CE0AB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8755" y="2799184"/>
            <a:ext cx="3932237" cy="306980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998A4-FD2F-4126-99C5-E2063AE02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C8B19-DE76-4E18-BFC7-EB25B8C421E7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457D3-F808-4DB2-9C9C-B185E71F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1BC9B-21D1-4D2D-B02E-C887A02C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595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3EC2-2D8C-4E8D-8CC7-967648014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966" y="68113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6AF89-5FBD-43DD-958D-A5C608AE2E2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834742" y="858417"/>
            <a:ext cx="5520645" cy="500263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0A545-2CE6-48C4-A725-EF68A3F1B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8966" y="2281335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4466B2-6FE6-4352-BBF9-84BCD946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0BD94-1F69-4074-BD82-D6EDB89FE74F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991BC-29A5-4182-BD83-9D99D288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1C78F-6633-4604-8832-8E9D2DC7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697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A997B-D473-47DE-8B7B-22AB6F31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26035-4B81-4537-A22D-92C2E0DBB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A44D-F637-4017-BAA2-77756A38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F3D07-6BCF-40BC-A7F7-89BB8FFE98C6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1DCE6-ED7D-417C-ABD4-41D61570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AF19A-FDAE-446A-A6B6-128F7F96A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17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6D838-45E9-4D61-AA4E-92A32B579F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2628900" cy="571976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183D0-4392-4364-8A2D-C47A2AF7A8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57199"/>
            <a:ext cx="7734300" cy="57197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A36C9-28D5-4820-84F1-E4B9F4E50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16D97-0980-426F-BEA7-F6EB2DE3AC08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DC8-558D-4646-86D9-A5424CF2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B7537-E67A-411A-BBA4-061521D3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38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/>
          <p:cNvPicPr preferRelativeResize="0"/>
          <p:nvPr/>
        </p:nvPicPr>
        <p:blipFill rotWithShape="1">
          <a:blip r:embed="rId2">
            <a:alphaModFix/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Verdana"/>
              <a:buNone/>
              <a:defRPr sz="6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sz="1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1225" y="626121"/>
            <a:ext cx="2646405" cy="724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00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4C0BBB-0042-4603-A226-6117F3FD5B3C}"/>
              </a:ext>
            </a:extLst>
          </p:cNvPr>
          <p:cNvSpPr/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4F520-2598-460E-9F91-B02F60830CA2}"/>
              </a:ext>
            </a:extLst>
          </p:cNvPr>
          <p:cNvSpPr/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78F2F-4F04-4604-9005-BF0CB114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61666"/>
            <a:ext cx="9810376" cy="1659404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17D2-52AF-4B40-80A8-3E0DB855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810376" cy="38578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2E0AA-D5B3-4BCF-BA69-209D9B335A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10111" y="6409170"/>
            <a:ext cx="370239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bg1"/>
                </a:solidFill>
              </a:defRPr>
            </a:lvl1pPr>
          </a:lstStyle>
          <a:p>
            <a:fld id="{149C728D-416F-40D5-8F13-55E5DD1CE8D1}" type="datetimeFigureOut">
              <a:rPr lang="en-US" dirty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A637-D86F-4FA1-985D-2D8245651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1" y="1912217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2FA4D-A931-46BA-B767-29A6FD5AA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9678" y="6408742"/>
            <a:ext cx="438652" cy="448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017DE1FC-E54A-4B87-A814-263D1E8654B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9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8">
          <p15:clr>
            <a:srgbClr val="F26B43"/>
          </p15:clr>
        </p15:guide>
        <p15:guide id="4" pos="288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pos="7392">
          <p15:clr>
            <a:srgbClr val="F26B43"/>
          </p15:clr>
        </p15:guide>
        <p15:guide id="7" pos="5112">
          <p15:clr>
            <a:srgbClr val="F26B43"/>
          </p15:clr>
        </p15:guide>
        <p15:guide id="8" pos="2544">
          <p15:clr>
            <a:srgbClr val="F26B43"/>
          </p15:clr>
        </p15:guide>
        <p15:guide id="9" pos="864">
          <p15:clr>
            <a:srgbClr val="F26B43"/>
          </p15:clr>
        </p15:guide>
        <p15:guide id="10" orient="horz" pos="648">
          <p15:clr>
            <a:srgbClr val="F26B43"/>
          </p15:clr>
        </p15:guide>
        <p15:guide id="11" pos="68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2502453"/>
            <a:ext cx="105156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4800">
                <a:cs typeface="Roboto"/>
              </a:rPr>
              <a:t>Экстремальное </a:t>
            </a:r>
            <a:br>
              <a:rPr lang="ru-RU" sz="4800" dirty="0">
                <a:cs typeface="Roboto"/>
              </a:rPr>
            </a:br>
            <a:r>
              <a:rPr lang="ru-RU" sz="4800">
                <a:cs typeface="Roboto"/>
              </a:rPr>
              <a:t>программирование </a:t>
            </a:r>
            <a:br>
              <a:rPr lang="ru-RU" sz="4800" dirty="0">
                <a:cs typeface="Roboto"/>
              </a:rPr>
            </a:br>
            <a:endParaRPr lang="ru-RU" sz="4800">
              <a:cs typeface="Roboto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80695" y="615993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2400">
                <a:solidFill>
                  <a:schemeClr val="lt1"/>
                </a:solidFill>
                <a:latin typeface="Verdana"/>
                <a:ea typeface="Verdana"/>
              </a:rPr>
              <a:t>Студент гр.194 Поснов В.А.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BA63BBE6-801B-53D3-5B6A-7EA8331EC2C5}"/>
              </a:ext>
            </a:extLst>
          </p:cNvPr>
          <p:cNvSpPr/>
          <p:nvPr/>
        </p:nvSpPr>
        <p:spPr>
          <a:xfrm>
            <a:off x="573200" y="3643737"/>
            <a:ext cx="10951728" cy="154364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65802" y="1490902"/>
            <a:ext cx="10951728" cy="154364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2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15600" y="230282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latin typeface="Verdana"/>
                <a:ea typeface="Verdana"/>
                <a:sym typeface="Verdana"/>
              </a:rPr>
              <a:t>Экстремальное программирование</a:t>
            </a:r>
            <a:endParaRPr lang="ru-RU" sz="3600">
              <a:solidFill>
                <a:schemeClr val="tx1"/>
              </a:solidFill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806600" y="3858281"/>
            <a:ext cx="9669900" cy="17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indent="-457200">
              <a:lnSpc>
                <a:spcPct val="150000"/>
              </a:lnSpc>
              <a:buChar char="•"/>
            </a:pPr>
            <a:r>
              <a:rPr lang="ru-RU" sz="3200">
                <a:solidFill>
                  <a:srgbClr val="0F1115"/>
                </a:solidFill>
                <a:latin typeface="Calibri"/>
                <a:ea typeface="Calibri"/>
                <a:cs typeface="Calibri"/>
                <a:sym typeface="Calibri"/>
              </a:rPr>
              <a:t>Разработка происходит по спирали, где каждый виток — новый этап улучшения системы</a:t>
            </a:r>
            <a:endParaRPr lang="ru-RU" sz="3200" dirty="0">
              <a:solidFill>
                <a:srgbClr val="0F1115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SzPts val="1800"/>
              <a:buChar char="•"/>
            </a:pPr>
            <a:endParaRPr lang="ru-RU" sz="3200" dirty="0">
              <a:solidFill>
                <a:srgbClr val="0F111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4965F-D891-F3EE-1FB0-32EB01821AC7}"/>
              </a:ext>
            </a:extLst>
          </p:cNvPr>
          <p:cNvSpPr txBox="1"/>
          <p:nvPr/>
        </p:nvSpPr>
        <p:spPr>
          <a:xfrm>
            <a:off x="362505" y="1835733"/>
            <a:ext cx="10357281" cy="1114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>
              <a:lnSpc>
                <a:spcPct val="150000"/>
              </a:lnSpc>
              <a:buChar char="•"/>
            </a:pPr>
            <a:r>
              <a:rPr lang="ru-RU" sz="3200">
                <a:latin typeface="Calibri"/>
              </a:rPr>
              <a:t>Создана Кентом Беком в конце 1990-х</a:t>
            </a:r>
            <a:endParaRPr lang="ru-RU"/>
          </a:p>
          <a:p>
            <a:pPr algn="ctr">
              <a:lnSpc>
                <a:spcPct val="150000"/>
              </a:lnSpc>
            </a:pPr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BC61C4E-DEAF-A1D6-7312-0862B3AE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2B39454E-F6A1-3556-C4C5-6545D0E13191}"/>
              </a:ext>
            </a:extLst>
          </p:cNvPr>
          <p:cNvSpPr/>
          <p:nvPr/>
        </p:nvSpPr>
        <p:spPr>
          <a:xfrm>
            <a:off x="553512" y="3488079"/>
            <a:ext cx="10521567" cy="1211810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4E4AE8CF-627A-13D9-7CFF-BFD5038D583B}"/>
              </a:ext>
            </a:extLst>
          </p:cNvPr>
          <p:cNvSpPr/>
          <p:nvPr/>
        </p:nvSpPr>
        <p:spPr>
          <a:xfrm>
            <a:off x="553512" y="2652338"/>
            <a:ext cx="10521567" cy="726343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28C32C80-64FD-99F8-CA2E-AF8CB58B10D2}"/>
              </a:ext>
            </a:extLst>
          </p:cNvPr>
          <p:cNvSpPr/>
          <p:nvPr/>
        </p:nvSpPr>
        <p:spPr>
          <a:xfrm>
            <a:off x="559657" y="1859612"/>
            <a:ext cx="10521567" cy="726343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21AFCCAE-B525-D77B-11FB-C1E5E36280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8871C8AA-9BAC-ABA2-5350-9194667ABA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989AB1C7-F92A-31A6-7A1C-0E684851E4A3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3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0955AEAE-5003-C8AA-6750-ED7787A3C5A8}"/>
              </a:ext>
            </a:extLst>
          </p:cNvPr>
          <p:cNvSpPr txBox="1"/>
          <p:nvPr/>
        </p:nvSpPr>
        <p:spPr>
          <a:xfrm>
            <a:off x="467386" y="289467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Почему традиционные методы (Waterfall) проигрывают?</a:t>
            </a:r>
            <a:endParaRPr lang="ru-RU"/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68A68A65-AE7B-A719-4BB4-7F1DD2D13132}"/>
              </a:ext>
            </a:extLst>
          </p:cNvPr>
          <p:cNvSpPr/>
          <p:nvPr/>
        </p:nvSpPr>
        <p:spPr>
          <a:xfrm>
            <a:off x="865784" y="3547563"/>
            <a:ext cx="9669900" cy="17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indent="-457200">
              <a:lnSpc>
                <a:spcPct val="150000"/>
              </a:lnSpc>
              <a:buChar char="•"/>
            </a:pPr>
            <a:endParaRPr lang="ru-RU" sz="3200">
              <a:solidFill>
                <a:srgbClr val="0F111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E414F-6A54-8B6E-0B2F-C8E4BB0280F7}"/>
              </a:ext>
            </a:extLst>
          </p:cNvPr>
          <p:cNvSpPr txBox="1"/>
          <p:nvPr/>
        </p:nvSpPr>
        <p:spPr>
          <a:xfrm>
            <a:off x="392097" y="1786631"/>
            <a:ext cx="10357281" cy="36944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742950" indent="-457200">
              <a:lnSpc>
                <a:spcPct val="150000"/>
              </a:lnSpc>
              <a:buChar char="•"/>
            </a:pPr>
            <a:r>
              <a:rPr lang="ru-RU" sz="3200">
                <a:ea typeface="Calibri"/>
              </a:rPr>
              <a:t>Заказчик не знает всех требований в начале</a:t>
            </a:r>
            <a:endParaRPr lang="ru-RU"/>
          </a:p>
          <a:p>
            <a:pPr marL="742950" indent="-457200">
              <a:lnSpc>
                <a:spcPct val="150000"/>
              </a:lnSpc>
              <a:buChar char="•"/>
            </a:pPr>
            <a:r>
              <a:rPr lang="ru-RU" sz="3200"/>
              <a:t>Боимся вносить изменения (дорого и долго)</a:t>
            </a:r>
            <a:endParaRPr lang="ru-RU"/>
          </a:p>
          <a:p>
            <a:pPr marL="742950" indent="-457200">
              <a:lnSpc>
                <a:spcPct val="150000"/>
              </a:lnSpc>
              <a:buChar char="•"/>
            </a:pPr>
            <a:r>
              <a:rPr lang="ru-RU" sz="3200"/>
              <a:t>Код становится «грязным», тестирование откладывается на конец</a:t>
            </a:r>
            <a:endParaRPr lang="ru-RU"/>
          </a:p>
          <a:p>
            <a:pPr marL="285750">
              <a:lnSpc>
                <a:spcPct val="150000"/>
              </a:lnSpc>
            </a:pPr>
            <a:endParaRPr lang="ru-RU" sz="3200" dirty="0">
              <a:ea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8427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3B7693C-F26F-98D7-EAE8-A85E9010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5C2ABE74-7D0A-5A29-5234-6BB485C37E5E}"/>
              </a:ext>
            </a:extLst>
          </p:cNvPr>
          <p:cNvSpPr/>
          <p:nvPr/>
        </p:nvSpPr>
        <p:spPr>
          <a:xfrm>
            <a:off x="565802" y="1934785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35859E0E-9D52-ED0E-D37F-3B761C657260}"/>
              </a:ext>
            </a:extLst>
          </p:cNvPr>
          <p:cNvSpPr/>
          <p:nvPr/>
        </p:nvSpPr>
        <p:spPr>
          <a:xfrm>
            <a:off x="565802" y="2926125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8A7D7921-5740-4CCE-00EF-3004EEED76F4}"/>
              </a:ext>
            </a:extLst>
          </p:cNvPr>
          <p:cNvSpPr/>
          <p:nvPr/>
        </p:nvSpPr>
        <p:spPr>
          <a:xfrm>
            <a:off x="565802" y="3902669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14F57063-B7C0-860A-2FFD-CBD78C597D66}"/>
              </a:ext>
            </a:extLst>
          </p:cNvPr>
          <p:cNvSpPr/>
          <p:nvPr/>
        </p:nvSpPr>
        <p:spPr>
          <a:xfrm>
            <a:off x="565802" y="4863402"/>
            <a:ext cx="10951728" cy="870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A6ADDD9C-0420-483F-473A-E184AF1533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6294097E-B792-EEF3-BDF3-DD76528D574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7BFAFDAD-6086-8488-36A9-9908248E1681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4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B2637481-47EE-93F9-6556-7757DB826D2D}"/>
              </a:ext>
            </a:extLst>
          </p:cNvPr>
          <p:cNvSpPr txBox="1"/>
          <p:nvPr/>
        </p:nvSpPr>
        <p:spPr>
          <a:xfrm>
            <a:off x="452590" y="267273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latin typeface="Verdana"/>
                <a:ea typeface="Verdana"/>
              </a:rPr>
              <a:t>Базовые ценности</a:t>
            </a:r>
            <a:endParaRPr lang="ru-RU" sz="3600" b="1" dirty="0">
              <a:solidFill>
                <a:schemeClr val="tx1"/>
              </a:solidFill>
              <a:latin typeface="Verdana"/>
              <a:ea typeface="Verdan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1CB0A7-84FE-3046-5642-D1A99B9095B9}"/>
              </a:ext>
            </a:extLst>
          </p:cNvPr>
          <p:cNvSpPr txBox="1"/>
          <p:nvPr/>
        </p:nvSpPr>
        <p:spPr>
          <a:xfrm>
            <a:off x="392097" y="1786631"/>
            <a:ext cx="10357281" cy="45656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Коммуникация (Устная, плотное общение)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Простота (Делаем только то, что нужно сейчас)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Обратная связь (От тестов, заказчика, команды)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r>
              <a:rPr lang="ru-RU" sz="3000"/>
              <a:t>Смелость (Рефакторинг и отказ от мертвого кода)</a:t>
            </a:r>
            <a:endParaRPr lang="ru-RU" sz="3000" dirty="0"/>
          </a:p>
          <a:p>
            <a:pPr marL="800100" indent="-514350">
              <a:lnSpc>
                <a:spcPct val="200000"/>
              </a:lnSpc>
              <a:buAutoNum type="arabicPeriod"/>
            </a:pPr>
            <a:endParaRPr lang="ru-RU" sz="3000" dirty="0"/>
          </a:p>
        </p:txBody>
      </p:sp>
    </p:spTree>
    <p:extLst>
      <p:ext uri="{BB962C8B-B14F-4D97-AF65-F5344CB8AC3E}">
        <p14:creationId xmlns:p14="http://schemas.microsoft.com/office/powerpoint/2010/main" val="151390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06CC855-49AE-7469-4AFF-13E8E492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DDB75936-16D8-5CFB-2F84-BFD84512AE75}"/>
              </a:ext>
            </a:extLst>
          </p:cNvPr>
          <p:cNvSpPr/>
          <p:nvPr/>
        </p:nvSpPr>
        <p:spPr>
          <a:xfrm>
            <a:off x="553512" y="2180591"/>
            <a:ext cx="10951728" cy="544732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B68A21C4-72C9-91C9-8864-DA95DA6B11C3}"/>
              </a:ext>
            </a:extLst>
          </p:cNvPr>
          <p:cNvSpPr/>
          <p:nvPr/>
        </p:nvSpPr>
        <p:spPr>
          <a:xfrm>
            <a:off x="553512" y="2790931"/>
            <a:ext cx="10951728" cy="532442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683FE950-B115-646C-7AD1-69BD5538189F}"/>
              </a:ext>
            </a:extLst>
          </p:cNvPr>
          <p:cNvSpPr/>
          <p:nvPr/>
        </p:nvSpPr>
        <p:spPr>
          <a:xfrm>
            <a:off x="553512" y="3411056"/>
            <a:ext cx="10951728" cy="526296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7981B06F-4C42-5B4D-EB12-397EA5EBCFCB}"/>
              </a:ext>
            </a:extLst>
          </p:cNvPr>
          <p:cNvSpPr/>
          <p:nvPr/>
        </p:nvSpPr>
        <p:spPr>
          <a:xfrm>
            <a:off x="553512" y="4113692"/>
            <a:ext cx="10951728" cy="42797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C258C96C-C200-FB68-4ABF-A8A6EA4A3A4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A236A63F-B187-687F-680B-4EA6319CE113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7076F33A-F612-EF17-C4AA-C9439D709C9F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5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C78A0F8E-F245-2F9F-4675-EE6845348371}"/>
              </a:ext>
            </a:extLst>
          </p:cNvPr>
          <p:cNvSpPr txBox="1"/>
          <p:nvPr/>
        </p:nvSpPr>
        <p:spPr>
          <a:xfrm>
            <a:off x="452590" y="267273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solidFill>
                  <a:schemeClr val="tx1"/>
                </a:solidFill>
                <a:ea typeface="Verdana"/>
              </a:rPr>
              <a:t>Технические практики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F4542B-C008-9BB6-3B8B-C6D1D0579BC3}"/>
              </a:ext>
            </a:extLst>
          </p:cNvPr>
          <p:cNvSpPr txBox="1"/>
          <p:nvPr/>
        </p:nvSpPr>
        <p:spPr>
          <a:xfrm>
            <a:off x="293775" y="2014001"/>
            <a:ext cx="10357281" cy="29185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TDD (Test-Driven Development): Сначала тест, потом код</a:t>
            </a: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Рефакторинг: Непрерывное улучшение структуры кода</a:t>
            </a: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Парное программирование: Два разработчика за одним компьютером</a:t>
            </a: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000"/>
              <a:t>Непрерывная интеграция (CI): Сборка и тесты после каждого коммита</a:t>
            </a:r>
          </a:p>
          <a:p>
            <a:pPr marL="800100" indent="-514350">
              <a:lnSpc>
                <a:spcPct val="200000"/>
              </a:lnSpc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97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3C754A2-89B4-121D-F39D-B0C586A9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0C78B5B5-4C1B-4C5D-66DC-A40912306D0F}"/>
              </a:ext>
            </a:extLst>
          </p:cNvPr>
          <p:cNvSpPr/>
          <p:nvPr/>
        </p:nvSpPr>
        <p:spPr>
          <a:xfrm>
            <a:off x="565802" y="1983946"/>
            <a:ext cx="10951728" cy="61847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66DBE944-A7D3-C80E-3CF1-30F7DE70CE29}"/>
              </a:ext>
            </a:extLst>
          </p:cNvPr>
          <p:cNvSpPr/>
          <p:nvPr/>
        </p:nvSpPr>
        <p:spPr>
          <a:xfrm>
            <a:off x="565802" y="2711045"/>
            <a:ext cx="10951728" cy="544732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4211B488-2BBA-4E55-0F1B-12BC6ACB349D}"/>
              </a:ext>
            </a:extLst>
          </p:cNvPr>
          <p:cNvSpPr/>
          <p:nvPr/>
        </p:nvSpPr>
        <p:spPr>
          <a:xfrm>
            <a:off x="565802" y="3368041"/>
            <a:ext cx="10951728" cy="1017908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9F60C538-0109-1023-A3BC-BEA4D64AA8F7}"/>
              </a:ext>
            </a:extLst>
          </p:cNvPr>
          <p:cNvSpPr/>
          <p:nvPr/>
        </p:nvSpPr>
        <p:spPr>
          <a:xfrm>
            <a:off x="565802" y="4463967"/>
            <a:ext cx="10951728" cy="80282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664BEF67-4A95-9B19-21DE-90D96CD700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44F73BF6-E3E7-0325-6FC5-826A23B41631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C50897F7-4611-DDF8-A988-E86D196E3DF3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6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5C6CD3C0-A8A8-D675-16E8-BD22B52768CE}"/>
              </a:ext>
            </a:extLst>
          </p:cNvPr>
          <p:cNvSpPr txBox="1"/>
          <p:nvPr/>
        </p:nvSpPr>
        <p:spPr>
          <a:xfrm>
            <a:off x="459988" y="259875"/>
            <a:ext cx="8883487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Командные и процессные практики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6C266-DCFD-AF17-7B61-254B1CFED46C}"/>
              </a:ext>
            </a:extLst>
          </p:cNvPr>
          <p:cNvSpPr txBox="1"/>
          <p:nvPr/>
        </p:nvSpPr>
        <p:spPr>
          <a:xfrm>
            <a:off x="-56500" y="1934115"/>
            <a:ext cx="10357281" cy="40133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Коллективное владение кодом: Любой может править любой участок</a:t>
            </a:r>
            <a:endParaRPr lang="ru-RU" sz="2000" dirty="0"/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Клиент всегда рядом (On-site Customer): Эксперт от бизнеса в команде</a:t>
            </a:r>
            <a:endParaRPr lang="ru-RU" sz="2000" dirty="0"/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Планирование игры (Planning Game): Оценка задач фишками (story </a:t>
            </a:r>
            <a:endParaRPr lang="ru-RU" sz="2000" dirty="0"/>
          </a:p>
          <a:p>
            <a:pPr marL="742950" lvl="1">
              <a:lnSpc>
                <a:spcPct val="200000"/>
              </a:lnSpc>
            </a:pPr>
            <a:r>
              <a:rPr lang="ru-RU" sz="2000"/>
              <a:t>       points)</a:t>
            </a:r>
          </a:p>
          <a:p>
            <a:pPr marL="1257300" lvl="1" indent="-514350">
              <a:lnSpc>
                <a:spcPct val="200000"/>
              </a:lnSpc>
              <a:buFont typeface="Arial"/>
              <a:buChar char="•"/>
            </a:pPr>
            <a:r>
              <a:rPr lang="ru-RU" sz="2000"/>
              <a:t>Метафоры системы: Общий понятный язык для всех</a:t>
            </a:r>
            <a:br>
              <a:rPr lang="en-US" dirty="0"/>
            </a:br>
            <a:endParaRPr lang="en-US" sz="1050"/>
          </a:p>
          <a:p>
            <a:pPr marL="742950" indent="-457200">
              <a:lnSpc>
                <a:spcPct val="200000"/>
              </a:lnSpc>
              <a:buFont typeface="Arial"/>
              <a:buChar char="•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90000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6B9BFF0-C61B-12D1-E53F-BA68CCBB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8D7D6B69-1934-CE8A-19B7-DE2089787840}"/>
              </a:ext>
            </a:extLst>
          </p:cNvPr>
          <p:cNvSpPr/>
          <p:nvPr/>
        </p:nvSpPr>
        <p:spPr>
          <a:xfrm>
            <a:off x="565801" y="2739800"/>
            <a:ext cx="10951728" cy="1251425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A8FFA0D8-DEE7-B984-50E9-F8331BCFBB39}"/>
              </a:ext>
            </a:extLst>
          </p:cNvPr>
          <p:cNvSpPr/>
          <p:nvPr/>
        </p:nvSpPr>
        <p:spPr>
          <a:xfrm>
            <a:off x="565802" y="1842606"/>
            <a:ext cx="10951728" cy="808974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6" name="Google Shape;100;p15">
            <a:extLst>
              <a:ext uri="{FF2B5EF4-FFF2-40B4-BE49-F238E27FC236}">
                <a16:creationId xmlns:a16="http://schemas.microsoft.com/office/drawing/2014/main" id="{20938112-4471-56B8-199A-A4F75B551556}"/>
              </a:ext>
            </a:extLst>
          </p:cNvPr>
          <p:cNvSpPr/>
          <p:nvPr/>
        </p:nvSpPr>
        <p:spPr>
          <a:xfrm>
            <a:off x="565802" y="4056835"/>
            <a:ext cx="10951728" cy="753667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" name="Google Shape;100;p15">
            <a:extLst>
              <a:ext uri="{FF2B5EF4-FFF2-40B4-BE49-F238E27FC236}">
                <a16:creationId xmlns:a16="http://schemas.microsoft.com/office/drawing/2014/main" id="{89AB459B-39A8-2F53-6C2C-3A7223626720}"/>
              </a:ext>
            </a:extLst>
          </p:cNvPr>
          <p:cNvSpPr/>
          <p:nvPr/>
        </p:nvSpPr>
        <p:spPr>
          <a:xfrm>
            <a:off x="565802" y="4873605"/>
            <a:ext cx="10951728" cy="753667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005CA0F4-C118-61EE-2A17-E1075123F7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7CA74A34-0741-F78C-3C4E-2D931335341C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1EE7DF03-67E0-F7CE-402F-414B20D004C0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7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51A99965-8E53-CF12-6215-8FD891FD3A5F}"/>
              </a:ext>
            </a:extLst>
          </p:cNvPr>
          <p:cNvSpPr txBox="1"/>
          <p:nvPr/>
        </p:nvSpPr>
        <p:spPr>
          <a:xfrm>
            <a:off x="474784" y="422632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Жихненный цикл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F5F96-53D5-98A5-52FE-3779BDE815E9}"/>
              </a:ext>
            </a:extLst>
          </p:cNvPr>
          <p:cNvSpPr txBox="1"/>
          <p:nvPr/>
        </p:nvSpPr>
        <p:spPr>
          <a:xfrm>
            <a:off x="392097" y="1786631"/>
            <a:ext cx="10357281" cy="44096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Истории пользователей (User Stories) → что нужно сделать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Итерация (1–3 недели): Планирование → Тесты → Кодинг → Разрыв тестов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Приемочные тесты (клиент принимает фичу)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Релиз. Переход к шагу 1</a:t>
            </a:r>
            <a:endParaRPr lang="ru-RU" sz="2400" dirty="0"/>
          </a:p>
          <a:p>
            <a:pPr marL="800100" indent="-514350">
              <a:lnSpc>
                <a:spcPct val="200000"/>
              </a:lnSpc>
              <a:buChar char="•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74663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CE37788-B3C9-CA96-F272-7546210B1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00;p15">
            <a:extLst>
              <a:ext uri="{FF2B5EF4-FFF2-40B4-BE49-F238E27FC236}">
                <a16:creationId xmlns:a16="http://schemas.microsoft.com/office/drawing/2014/main" id="{0D630F6B-27E3-E4A1-6843-4B4D196CE05B}"/>
              </a:ext>
            </a:extLst>
          </p:cNvPr>
          <p:cNvSpPr/>
          <p:nvPr/>
        </p:nvSpPr>
        <p:spPr>
          <a:xfrm>
            <a:off x="510496" y="1818027"/>
            <a:ext cx="10951728" cy="1362037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2" name="Google Shape;100;p15">
            <a:extLst>
              <a:ext uri="{FF2B5EF4-FFF2-40B4-BE49-F238E27FC236}">
                <a16:creationId xmlns:a16="http://schemas.microsoft.com/office/drawing/2014/main" id="{B42BE13B-8A8C-4CBF-BFA3-16F573F2D5F3}"/>
              </a:ext>
            </a:extLst>
          </p:cNvPr>
          <p:cNvSpPr/>
          <p:nvPr/>
        </p:nvSpPr>
        <p:spPr>
          <a:xfrm>
            <a:off x="510496" y="3363983"/>
            <a:ext cx="10951728" cy="2019569"/>
          </a:xfrm>
          <a:prstGeom prst="roundRect">
            <a:avLst>
              <a:gd name="adj" fmla="val 7218"/>
            </a:avLst>
          </a:prstGeom>
          <a:solidFill>
            <a:srgbClr val="F7F7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101" name="Google Shape;101;p15">
            <a:extLst>
              <a:ext uri="{FF2B5EF4-FFF2-40B4-BE49-F238E27FC236}">
                <a16:creationId xmlns:a16="http://schemas.microsoft.com/office/drawing/2014/main" id="{2203AE19-5FA0-873E-AFEB-E153B6DF6A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6818" y="476464"/>
            <a:ext cx="1195407" cy="33809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>
            <a:extLst>
              <a:ext uri="{FF2B5EF4-FFF2-40B4-BE49-F238E27FC236}">
                <a16:creationId xmlns:a16="http://schemas.microsoft.com/office/drawing/2014/main" id="{DDA15E66-8C00-643A-3BE4-8CF2BB167B95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>
            <a:extLst>
              <a:ext uri="{FF2B5EF4-FFF2-40B4-BE49-F238E27FC236}">
                <a16:creationId xmlns:a16="http://schemas.microsoft.com/office/drawing/2014/main" id="{B584079D-CD71-11E3-CEFA-225DCDA305DE}"/>
              </a:ext>
            </a:extLst>
          </p:cNvPr>
          <p:cNvSpPr txBox="1"/>
          <p:nvPr/>
        </p:nvSpPr>
        <p:spPr>
          <a:xfrm>
            <a:off x="9039225" y="642505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8</a:t>
            </a:fld>
            <a:endParaRPr sz="20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15">
            <a:extLst>
              <a:ext uri="{FF2B5EF4-FFF2-40B4-BE49-F238E27FC236}">
                <a16:creationId xmlns:a16="http://schemas.microsoft.com/office/drawing/2014/main" id="{113CB70D-3DD1-7CF7-5E05-B1C93552DBDC}"/>
              </a:ext>
            </a:extLst>
          </p:cNvPr>
          <p:cNvSpPr txBox="1"/>
          <p:nvPr/>
        </p:nvSpPr>
        <p:spPr>
          <a:xfrm>
            <a:off x="393405" y="215486"/>
            <a:ext cx="888348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3600" b="1">
                <a:latin typeface="Verdana"/>
                <a:ea typeface="Verdana"/>
                <a:sym typeface="Verdana"/>
              </a:rPr>
              <a:t>Итоги</a:t>
            </a:r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6DF90-92CB-4E5A-AAF7-9004C0FB4D79}"/>
              </a:ext>
            </a:extLst>
          </p:cNvPr>
          <p:cNvSpPr txBox="1"/>
          <p:nvPr/>
        </p:nvSpPr>
        <p:spPr>
          <a:xfrm>
            <a:off x="392097" y="1712889"/>
            <a:ext cx="10357281" cy="36710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Плюсы: Очень высокое качество кода, предсказуемость графика, минимальное количество багов</a:t>
            </a:r>
          </a:p>
          <a:p>
            <a:pPr marL="800100" indent="-514350">
              <a:lnSpc>
                <a:spcPct val="200000"/>
              </a:lnSpc>
              <a:buChar char="•"/>
            </a:pPr>
            <a:r>
              <a:rPr lang="ru-RU" sz="2400"/>
              <a:t>Минусы: Трудно с удаленной командой (парное программирование), требуется дисциплина, заказчик должен быть доступен 24/7</a:t>
            </a:r>
          </a:p>
        </p:txBody>
      </p:sp>
    </p:spTree>
    <p:extLst>
      <p:ext uri="{BB962C8B-B14F-4D97-AF65-F5344CB8AC3E}">
        <p14:creationId xmlns:p14="http://schemas.microsoft.com/office/powerpoint/2010/main" val="179838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2498064" y="1385783"/>
            <a:ext cx="6870555" cy="370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ctr" anchorCtr="0">
            <a:spAutoFit/>
          </a:bodyPr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ru-RU" sz="8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СПАСИБО </a:t>
            </a:r>
            <a:br>
              <a:rPr lang="ru-RU" sz="8000" dirty="0">
                <a:latin typeface="Arial"/>
                <a:ea typeface="Arial"/>
                <a:cs typeface="Arial"/>
              </a:rPr>
            </a:br>
            <a:r>
              <a:rPr lang="ru-RU" sz="800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ЗА ВНИМАНИЕ!</a:t>
            </a:r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>
          <a:extLst>
            <a:ext uri="{FF2B5EF4-FFF2-40B4-BE49-F238E27FC236}">
              <a16:creationId xmlns:a16="http://schemas.microsoft.com/office/drawing/2014/main" id="{5AFAE21B-987F-23BD-CF8F-31C5BEE9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8DBF6C2-0C15-F8F3-C924-1B3E68D7B6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502453"/>
            <a:ext cx="10515600" cy="7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ru-RU" sz="4800">
                <a:cs typeface="Roboto"/>
              </a:rPr>
              <a:t>Экстремальное </a:t>
            </a:r>
            <a:br>
              <a:rPr lang="ru-RU" sz="4800" dirty="0">
                <a:cs typeface="Roboto"/>
              </a:rPr>
            </a:br>
            <a:r>
              <a:rPr lang="ru-RU" sz="4800">
                <a:cs typeface="Roboto"/>
              </a:rPr>
              <a:t>программирование </a:t>
            </a:r>
            <a:br>
              <a:rPr lang="ru-RU" sz="4800" dirty="0">
                <a:cs typeface="Roboto"/>
              </a:rPr>
            </a:br>
            <a:endParaRPr lang="ru-RU" sz="4800">
              <a:cs typeface="Roboto"/>
            </a:endParaRPr>
          </a:p>
        </p:txBody>
      </p:sp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9F6EBAF7-A103-96AE-8DCE-EBE73E6EFDE4}"/>
              </a:ext>
            </a:extLst>
          </p:cNvPr>
          <p:cNvSpPr txBox="1"/>
          <p:nvPr/>
        </p:nvSpPr>
        <p:spPr>
          <a:xfrm>
            <a:off x="7380695" y="6159939"/>
            <a:ext cx="60960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ru-RU" sz="2400">
                <a:solidFill>
                  <a:schemeClr val="lt1"/>
                </a:solidFill>
                <a:latin typeface="Verdana"/>
                <a:ea typeface="Verdana"/>
              </a:rPr>
              <a:t>Студент гр.194 Поснов В.А.</a:t>
            </a:r>
          </a:p>
        </p:txBody>
      </p:sp>
    </p:spTree>
    <p:extLst>
      <p:ext uri="{BB962C8B-B14F-4D97-AF65-F5344CB8AC3E}">
        <p14:creationId xmlns:p14="http://schemas.microsoft.com/office/powerpoint/2010/main" val="34837659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VTI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GradientRiseVTI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GradientRi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13C68A69-E745-489A-84EC-B7BCE4AA380B}" vid="{9CF7857A-9412-4E45-AB0D-6EAA5A7DC4C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10</Slides>
  <Notes>10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GradientRiseVTI</vt:lpstr>
      <vt:lpstr>Экстремальное  программирование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Экстремальное  программирование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213</cp:revision>
  <dcterms:modified xsi:type="dcterms:W3CDTF">2026-04-11T07:05:48Z</dcterms:modified>
</cp:coreProperties>
</file>